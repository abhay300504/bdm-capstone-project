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AE2C6"/>
    <a:srgbClr val="FFFFCC"/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4D3B7-CF4C-4CF1-AE3D-E3BBEBD61F9B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14DA6-E830-4128-8E8C-FA75CB5A04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514DA6-E830-4128-8E8C-FA75CB5A04C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496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568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749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8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035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18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616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734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62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427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497154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7072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380795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6373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7350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852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2C6">
            <a:alpha val="8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475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6154" y="-115393"/>
            <a:ext cx="7772400" cy="967991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Revenue Optimization and Demand Forecasting Analysis of a Dairy Firm</a:t>
            </a:r>
            <a:endParaRPr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9666" y="3998190"/>
            <a:ext cx="6400804" cy="1032167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IITM BS Degree Program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Indian Institute of Technology Madras, Chennai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 Tamil Nadu, India, 600036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IIT_Madras_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850212"/>
            <a:ext cx="2164080" cy="2073206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1331556" y="856940"/>
            <a:ext cx="6400804" cy="103216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Presentation for BDM Capstone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Project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2400" b="1" baseline="0" dirty="0">
                <a:solidFill>
                  <a:srgbClr val="C00000"/>
                </a:solidFill>
              </a:rPr>
              <a:t>Name</a:t>
            </a:r>
            <a:r>
              <a:rPr lang="en-IN" sz="2400" b="1" dirty="0">
                <a:solidFill>
                  <a:srgbClr val="C00000"/>
                </a:solidFill>
              </a:rPr>
              <a:t> : </a:t>
            </a:r>
            <a:r>
              <a:rPr lang="en-IN" sz="2400" b="1" dirty="0" err="1">
                <a:solidFill>
                  <a:srgbClr val="C00000"/>
                </a:solidFill>
              </a:rPr>
              <a:t>Abhay</a:t>
            </a:r>
            <a:r>
              <a:rPr lang="en-IN" sz="2400" b="1" dirty="0">
                <a:solidFill>
                  <a:srgbClr val="C00000"/>
                </a:solidFill>
              </a:rPr>
              <a:t> </a:t>
            </a:r>
            <a:r>
              <a:rPr lang="en-IN" sz="2400" b="1" dirty="0" err="1">
                <a:solidFill>
                  <a:srgbClr val="C00000"/>
                </a:solidFill>
              </a:rPr>
              <a:t>Sahu</a:t>
            </a:r>
            <a:endParaRPr lang="en-IN" sz="2400" b="1" dirty="0">
              <a:solidFill>
                <a:srgbClr val="C00000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Roll</a:t>
            </a:r>
            <a:r>
              <a:rPr kumimoji="0" lang="en-IN" sz="24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 : 23f1001119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>
            <a:off x="9012845" y="1889107"/>
            <a:ext cx="554182" cy="1352857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13781" y="3488502"/>
            <a:ext cx="3683974" cy="12054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090"/>
            <a:ext cx="8229600" cy="85725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Algerian" pitchFamily="82" charset="0"/>
              </a:rPr>
              <a:t>BRIEF OVERVIEW OF SHREE MAA DAIRY</a:t>
            </a:r>
            <a:endParaRPr sz="2800" dirty="0"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2565" y="3491353"/>
            <a:ext cx="34094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Product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Fresh Milk, Full Fat Milk(500 ml),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Neno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Milk(200ml), Loose Milk,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Sada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/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Masala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Mattha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Lassi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Cup, Ghee Tin(15 Kg), Ghee(1 L), Ghee(450 ml),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Dahi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Cup/Pouch,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Srikhand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Panner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95252" y="967729"/>
            <a:ext cx="4101997" cy="1205876"/>
            <a:chOff x="281940" y="1247764"/>
            <a:chExt cx="4101997" cy="1205876"/>
          </a:xfrm>
        </p:grpSpPr>
        <p:sp>
          <p:nvSpPr>
            <p:cNvPr id="7" name="Rounded Rectangle 6"/>
            <p:cNvSpPr/>
            <p:nvPr/>
          </p:nvSpPr>
          <p:spPr>
            <a:xfrm>
              <a:off x="533400" y="1247764"/>
              <a:ext cx="3634740" cy="120587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1940" y="1356360"/>
              <a:ext cx="4101997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Details</a:t>
              </a:r>
              <a:endPara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Name : Shree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Maa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Dairy(APRA MILK)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Owner : Mr.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Amitabh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Nagaria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Timing :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09 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: 00AM to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05:00PM Daily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2045" y="2324102"/>
            <a:ext cx="3775710" cy="1005959"/>
            <a:chOff x="244905" y="2301240"/>
            <a:chExt cx="3775710" cy="1005959"/>
          </a:xfrm>
        </p:grpSpPr>
        <p:sp>
          <p:nvSpPr>
            <p:cNvPr id="6" name="Rounded Rectangle 5"/>
            <p:cNvSpPr/>
            <p:nvPr/>
          </p:nvSpPr>
          <p:spPr>
            <a:xfrm>
              <a:off x="346711" y="2301240"/>
              <a:ext cx="3649980" cy="100595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4905" y="2362200"/>
              <a:ext cx="377571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Location</a:t>
              </a: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Yamunotri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, Village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Naiguan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ghughwa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,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hansi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Tehsil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Niwari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Jhansi , U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ttar 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Pradesh, 284201</a:t>
              </a:r>
            </a:p>
          </p:txBody>
        </p:sp>
      </p:grpSp>
      <p:pic>
        <p:nvPicPr>
          <p:cNvPr id="13" name="Picture 12" descr="WhatsApp Image 2025-11-06 at 14.13.37_8f277c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649" y="1287171"/>
            <a:ext cx="3588603" cy="269834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245"/>
            <a:ext cx="8229600" cy="574279"/>
          </a:xfrm>
        </p:spPr>
        <p:txBody>
          <a:bodyPr>
            <a:noAutofit/>
          </a:bodyPr>
          <a:lstStyle/>
          <a:p>
            <a:pPr algn="ctr"/>
            <a:r>
              <a:rPr lang="en-IN" sz="3200" dirty="0" smtClean="0">
                <a:latin typeface="Algerian" pitchFamily="82" charset="0"/>
              </a:rPr>
              <a:t>INTRODUCTION</a:t>
            </a:r>
            <a:endParaRPr sz="3200" dirty="0">
              <a:latin typeface="Algerian" pitchFamily="82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6050" y="2171703"/>
            <a:ext cx="3962400" cy="1319273"/>
            <a:chOff x="279400" y="831850"/>
            <a:chExt cx="3962400" cy="1574024"/>
          </a:xfrm>
        </p:grpSpPr>
        <p:sp>
          <p:nvSpPr>
            <p:cNvPr id="5" name="Rounded Rectangle 4"/>
            <p:cNvSpPr/>
            <p:nvPr/>
          </p:nvSpPr>
          <p:spPr>
            <a:xfrm>
              <a:off x="279400" y="831850"/>
              <a:ext cx="3803650" cy="130175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0990" y="863600"/>
              <a:ext cx="3940810" cy="15422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Problem Statement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The problem of reaching a large customer base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Spoilage due to overstocking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Seasonal demand fluctuations</a:t>
              </a:r>
              <a:endParaRPr lang="en-IN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>
                <a:buNone/>
                <a:defRPr sz="2400"/>
              </a:pP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31271" y="803276"/>
            <a:ext cx="3901583" cy="1127124"/>
            <a:chOff x="5093298" y="1114425"/>
            <a:chExt cx="3407221" cy="1152525"/>
          </a:xfrm>
        </p:grpSpPr>
        <p:sp>
          <p:nvSpPr>
            <p:cNvPr id="10" name="Rounded Rectangle 9"/>
            <p:cNvSpPr/>
            <p:nvPr/>
          </p:nvSpPr>
          <p:spPr>
            <a:xfrm>
              <a:off x="5093298" y="1114425"/>
              <a:ext cx="3346446" cy="115252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116271" y="1156155"/>
              <a:ext cx="3384248" cy="1007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Sources</a:t>
              </a:r>
              <a:endPara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Primary sales data collected from Shree </a:t>
              </a: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Maa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Dairy’s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in the form of invoice </a:t>
              </a: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records.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period : May 2024 – April 2025 (12 months)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929491" y="2146756"/>
            <a:ext cx="3967116" cy="1127124"/>
            <a:chOff x="4931267" y="3619500"/>
            <a:chExt cx="3967116" cy="1127124"/>
          </a:xfrm>
        </p:grpSpPr>
        <p:sp>
          <p:nvSpPr>
            <p:cNvPr id="18" name="Rounded Rectangle 17"/>
            <p:cNvSpPr/>
            <p:nvPr/>
          </p:nvSpPr>
          <p:spPr>
            <a:xfrm>
              <a:off x="4931267" y="3619500"/>
              <a:ext cx="3853466" cy="112712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7573" y="3644900"/>
              <a:ext cx="3940810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Cleaning</a:t>
              </a:r>
            </a:p>
            <a:p>
              <a:pPr>
                <a:buNone/>
                <a:defRPr sz="2400"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cleaning involves removing duplicates, Handling missing values, correcting inconsistencies, and outlier.</a:t>
              </a:r>
              <a:endPara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972054" y="3517901"/>
            <a:ext cx="3966011" cy="1200329"/>
            <a:chOff x="4950317" y="2166938"/>
            <a:chExt cx="3966011" cy="1200329"/>
          </a:xfrm>
        </p:grpSpPr>
        <p:sp>
          <p:nvSpPr>
            <p:cNvPr id="16" name="Rounded Rectangle 15"/>
            <p:cNvSpPr/>
            <p:nvPr/>
          </p:nvSpPr>
          <p:spPr>
            <a:xfrm>
              <a:off x="4950317" y="2166938"/>
              <a:ext cx="3834416" cy="120032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75518" y="2166939"/>
              <a:ext cx="3940810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Transformation</a:t>
              </a:r>
            </a:p>
            <a:p>
              <a:pPr>
                <a:buNone/>
                <a:defRPr sz="2400"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Converted date fields to monthly format, and</a:t>
              </a:r>
            </a:p>
            <a:p>
              <a:pPr>
                <a:buNone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Created derived metrics such as monthly revenue to support time-series analysis and forecasting.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1" name="Left-Right Arrow 20"/>
          <p:cNvSpPr/>
          <p:nvPr/>
        </p:nvSpPr>
        <p:spPr>
          <a:xfrm>
            <a:off x="4070350" y="2597150"/>
            <a:ext cx="730250" cy="285750"/>
          </a:xfrm>
          <a:prstGeom prst="leftRightArrow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Right Arrow 21"/>
          <p:cNvSpPr/>
          <p:nvPr/>
        </p:nvSpPr>
        <p:spPr>
          <a:xfrm rot="1588744">
            <a:off x="3698677" y="3612411"/>
            <a:ext cx="1097223" cy="285750"/>
          </a:xfrm>
          <a:prstGeom prst="leftRightArrow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2"/>
          <p:cNvSpPr/>
          <p:nvPr/>
        </p:nvSpPr>
        <p:spPr>
          <a:xfrm rot="19938790">
            <a:off x="3721951" y="1621567"/>
            <a:ext cx="1073734" cy="285750"/>
          </a:xfrm>
          <a:prstGeom prst="leftRightArrow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5463540" y="3232150"/>
            <a:ext cx="3657600" cy="1370226"/>
            <a:chOff x="5336540" y="1144373"/>
            <a:chExt cx="3657600" cy="1370226"/>
          </a:xfrm>
        </p:grpSpPr>
        <p:sp>
          <p:nvSpPr>
            <p:cNvPr id="21" name="Rounded Rectangle 20"/>
            <p:cNvSpPr/>
            <p:nvPr/>
          </p:nvSpPr>
          <p:spPr>
            <a:xfrm>
              <a:off x="5336540" y="1144373"/>
              <a:ext cx="3657600" cy="100990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556250" y="3536719"/>
            <a:ext cx="394081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Dates standardized to </a:t>
            </a: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Month–Year format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/>
            </a:r>
            <a:b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Monetary values maintained in </a:t>
            </a: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Indian Rupees (₹)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/>
            </a:r>
            <a:b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Product names standardized across all </a:t>
            </a: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months.</a:t>
            </a:r>
            <a:endParaRPr lang="en-US" sz="1100" dirty="0">
              <a:solidFill>
                <a:schemeClr val="bg1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463540" y="1980948"/>
            <a:ext cx="3657600" cy="1251202"/>
            <a:chOff x="5461000" y="1263397"/>
            <a:chExt cx="3657600" cy="1251202"/>
          </a:xfrm>
        </p:grpSpPr>
        <p:sp>
          <p:nvSpPr>
            <p:cNvPr id="17" name="Rounded Rectangle 16"/>
            <p:cNvSpPr/>
            <p:nvPr/>
          </p:nvSpPr>
          <p:spPr>
            <a:xfrm>
              <a:off x="5461000" y="1263397"/>
              <a:ext cx="3657600" cy="100990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04"/>
            <a:ext cx="7581900" cy="55245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Algerian" pitchFamily="82" charset="0"/>
              </a:rPr>
              <a:t>SOURCE OF DATA AND DATA CLEANING METHODS</a:t>
            </a:r>
            <a:endParaRPr sz="2400" dirty="0">
              <a:latin typeface="Algerian" pitchFamily="82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21350" y="1263397"/>
            <a:ext cx="26670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 sz="2400"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01640" y="2008736"/>
            <a:ext cx="3940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IN" sz="12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                        </a:t>
            </a:r>
            <a:r>
              <a:rPr lang="en-IN" sz="1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Outlier Treatment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461000" y="768098"/>
            <a:ext cx="3984906" cy="1251202"/>
            <a:chOff x="5461000" y="1263397"/>
            <a:chExt cx="3984906" cy="1251202"/>
          </a:xfrm>
        </p:grpSpPr>
        <p:sp>
          <p:nvSpPr>
            <p:cNvPr id="11" name="Rounded Rectangle 10"/>
            <p:cNvSpPr/>
            <p:nvPr/>
          </p:nvSpPr>
          <p:spPr>
            <a:xfrm>
              <a:off x="5461000" y="1263397"/>
              <a:ext cx="3657600" cy="100990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05096" y="1301497"/>
              <a:ext cx="3940810" cy="846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spcBef>
                  <a:spcPct val="0"/>
                </a:spcBef>
              </a:pPr>
              <a: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             Handling </a:t>
              </a: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Missing Values</a:t>
              </a:r>
              <a:b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</a:br>
              <a:r>
                <a:rPr lang="en-US" sz="1100" dirty="0">
                  <a:solidFill>
                    <a:schemeClr val="bg1"/>
                  </a:solidFill>
                  <a:latin typeface="Arial" pitchFamily="34" charset="0"/>
                  <a:ea typeface="Calibri" pitchFamily="34" charset="0"/>
                  <a:cs typeface="Arial" pitchFamily="34" charset="0"/>
                </a:rPr>
                <a:t>Missing quantity or revenue entries were verified with </a:t>
              </a:r>
              <a:endPara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endParaRPr>
            </a:p>
            <a:p>
              <a:pPr defTabSz="914400">
                <a:spcBef>
                  <a:spcPct val="0"/>
                </a:spcBef>
              </a:pPr>
              <a:r>
                <a:rPr lang="en-US" sz="1100" dirty="0" smtClean="0">
                  <a:solidFill>
                    <a:schemeClr val="bg1"/>
                  </a:solidFill>
                  <a:latin typeface="Arial" pitchFamily="34" charset="0"/>
                  <a:ea typeface="Calibri" pitchFamily="34" charset="0"/>
                  <a:cs typeface="Arial" pitchFamily="34" charset="0"/>
                </a:rPr>
                <a:t>invoice </a:t>
              </a:r>
              <a:r>
                <a:rPr lang="en-US" sz="1100" dirty="0">
                  <a:solidFill>
                    <a:schemeClr val="bg1"/>
                  </a:solidFill>
                  <a:latin typeface="Arial" pitchFamily="34" charset="0"/>
                  <a:ea typeface="Calibri" pitchFamily="34" charset="0"/>
                  <a:cs typeface="Arial" pitchFamily="34" charset="0"/>
                </a:rPr>
                <a:t>records </a:t>
              </a:r>
              <a:r>
                <a:rPr lang="en-US" sz="1100" dirty="0" smtClean="0">
                  <a:solidFill>
                    <a:schemeClr val="bg1"/>
                  </a:solidFill>
                  <a:latin typeface="Arial" pitchFamily="34" charset="0"/>
                  <a:ea typeface="Calibri" pitchFamily="34" charset="0"/>
                  <a:cs typeface="Arial" pitchFamily="34" charset="0"/>
                </a:rPr>
                <a:t>Missing values were filled with zero </a:t>
              </a:r>
            </a:p>
            <a:p>
              <a:pPr defTabSz="914400">
                <a:spcBef>
                  <a:spcPct val="0"/>
                </a:spcBef>
              </a:pPr>
              <a:r>
                <a:rPr lang="en-US" sz="1100" dirty="0" smtClean="0">
                  <a:solidFill>
                    <a:schemeClr val="bg1"/>
                  </a:solidFill>
                  <a:latin typeface="Arial" pitchFamily="34" charset="0"/>
                  <a:ea typeface="Calibri" pitchFamily="34" charset="0"/>
                  <a:cs typeface="Arial" pitchFamily="34" charset="0"/>
                </a:rPr>
                <a:t>only in cases where no transaction occurred.</a:t>
              </a:r>
              <a:endParaRPr lang="en-US" sz="14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5520690" y="2028449"/>
            <a:ext cx="394081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Extreme values were manually reviewed to differentiate genuine demand spikes from data entry errors. </a:t>
            </a:r>
            <a:b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Genuine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high sales during festivals were </a:t>
            </a: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retained.</a:t>
            </a:r>
            <a:endParaRPr lang="en-US" sz="1200" dirty="0">
              <a:solidFill>
                <a:schemeClr val="bg1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65750" y="3251200"/>
            <a:ext cx="3940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spcBef>
                <a:spcPct val="0"/>
              </a:spcBef>
            </a:pPr>
            <a:r>
              <a:rPr lang="en-IN" sz="1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 Standardization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4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4625340" y="2272196"/>
            <a:ext cx="70866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002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4607560" y="3482567"/>
            <a:ext cx="70104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4610100" y="1097445"/>
            <a:ext cx="72390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64098" y="1130373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64098" y="3514317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6798" y="2305123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2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C95B1C4-47CA-C59C-BFC5-71535A490D54}"/>
              </a:ext>
            </a:extLst>
          </p:cNvPr>
          <p:cNvSpPr/>
          <p:nvPr/>
        </p:nvSpPr>
        <p:spPr>
          <a:xfrm>
            <a:off x="143883" y="821067"/>
            <a:ext cx="4337050" cy="3394472"/>
          </a:xfrm>
          <a:prstGeom prst="rect">
            <a:avLst/>
          </a:prstGeom>
          <a:solidFill>
            <a:srgbClr val="FAE2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90439698"/>
              </p:ext>
            </p:extLst>
          </p:nvPr>
        </p:nvGraphicFramePr>
        <p:xfrm>
          <a:off x="135470" y="821067"/>
          <a:ext cx="4345120" cy="339447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314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137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2296">
                <a:tc>
                  <a:txBody>
                    <a:bodyPr/>
                    <a:lstStyle/>
                    <a:p>
                      <a:r>
                        <a:rPr lang="en-IN" sz="1800" dirty="0"/>
                        <a:t>Sources</a:t>
                      </a:r>
                      <a:endParaRPr lang="en-US" sz="1800" b="1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Description</a:t>
                      </a:r>
                      <a:endParaRPr lang="en-US" sz="1800" b="1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8149">
                <a:tc>
                  <a:txBody>
                    <a:bodyPr/>
                    <a:lstStyle/>
                    <a:p>
                      <a:r>
                        <a:rPr lang="en-IN" sz="1400" dirty="0"/>
                        <a:t>Primary</a:t>
                      </a:r>
                      <a:r>
                        <a:rPr lang="en-IN" sz="1400" baseline="0" dirty="0"/>
                        <a:t> Data</a:t>
                      </a:r>
                    </a:p>
                    <a:p>
                      <a:r>
                        <a:rPr lang="en-IN" sz="1400" baseline="0" dirty="0"/>
                        <a:t>(Sales Records)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Monthly</a:t>
                      </a:r>
                      <a:r>
                        <a:rPr lang="en-IN" sz="1200" baseline="0" dirty="0"/>
                        <a:t> Sales, Particulars, Outward Qty, Price, Revenue collected from Shree </a:t>
                      </a:r>
                      <a:r>
                        <a:rPr lang="en-IN" sz="1200" baseline="0" dirty="0" err="1"/>
                        <a:t>Maa</a:t>
                      </a:r>
                      <a:r>
                        <a:rPr lang="en-IN" sz="1200" baseline="0" dirty="0"/>
                        <a:t> Dairy between May 24 to April 25.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09134">
                <a:tc>
                  <a:txBody>
                    <a:bodyPr/>
                    <a:lstStyle/>
                    <a:p>
                      <a:r>
                        <a:rPr lang="en-IN" sz="1400" dirty="0"/>
                        <a:t>Owner</a:t>
                      </a:r>
                      <a:r>
                        <a:rPr lang="en-IN" sz="1400" baseline="0" dirty="0"/>
                        <a:t> Interaction</a:t>
                      </a:r>
                      <a:endParaRPr lang="en-IN" sz="1400" baseline="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Regular discussions with the dairy owner to understand :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Seasonal demand patterns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Inventory practices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Spoilage and overstocking issues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Distribution limitations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04892">
                <a:tc>
                  <a:txBody>
                    <a:bodyPr/>
                    <a:lstStyle/>
                    <a:p>
                      <a:r>
                        <a:rPr lang="en-IN" sz="1400" dirty="0"/>
                        <a:t>Market</a:t>
                      </a:r>
                      <a:r>
                        <a:rPr lang="en-IN" sz="1400" baseline="0" dirty="0"/>
                        <a:t> Observation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Product</a:t>
                      </a:r>
                      <a:r>
                        <a:rPr lang="en-IN" sz="1200" baseline="0" dirty="0"/>
                        <a:t> demand pattern and price trend were informally observed at </a:t>
                      </a:r>
                      <a:r>
                        <a:rPr lang="en-US" sz="1200" dirty="0"/>
                        <a:t>nearby dairy retailers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Used to understand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Competitive pricing Seasonal product demand trends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4279900" y="750850"/>
            <a:ext cx="4622800" cy="3977268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2118"/>
            <a:ext cx="8229600" cy="4708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solidFill>
                  <a:schemeClr val="tx1"/>
                </a:solidFill>
                <a:latin typeface="Algerian" pitchFamily="82" charset="0"/>
              </a:rPr>
              <a:t>DESCRIPTIVE STATISTICAL ANALYSIS</a:t>
            </a:r>
            <a:endParaRPr lang="en-US" sz="2400" dirty="0">
              <a:solidFill>
                <a:schemeClr val="tx1"/>
              </a:solidFill>
              <a:latin typeface="Algerian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438650" y="813635"/>
            <a:ext cx="4248150" cy="3714140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5600" b="1" dirty="0">
                <a:latin typeface="Arial" pitchFamily="34" charset="0"/>
                <a:cs typeface="Arial" pitchFamily="34" charset="0"/>
              </a:rPr>
              <a:t>Outwards Quantity</a:t>
            </a:r>
            <a:endParaRPr lang="en-US" sz="48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600" b="1" dirty="0" err="1">
                <a:latin typeface="Arial" pitchFamily="34" charset="0"/>
                <a:cs typeface="Arial" pitchFamily="34" charset="0"/>
              </a:rPr>
              <a:t>Avg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 Qty: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 11,947 units, 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Std Dev: 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28,494 units</a:t>
            </a:r>
          </a:p>
          <a:p>
            <a:pPr>
              <a:buNone/>
            </a:pPr>
            <a:r>
              <a:rPr lang="en-US" sz="5600" b="1" dirty="0">
                <a:latin typeface="Arial" pitchFamily="34" charset="0"/>
                <a:cs typeface="Arial" pitchFamily="34" charset="0"/>
              </a:rPr>
              <a:t>Max :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 1,82,160 units</a:t>
            </a:r>
          </a:p>
          <a:p>
            <a:pPr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en-US" sz="5600" b="1" dirty="0">
                <a:latin typeface="Arial" pitchFamily="34" charset="0"/>
                <a:cs typeface="Arial" pitchFamily="34" charset="0"/>
              </a:rPr>
              <a:t>Selling Rate (₹ per unit)</a:t>
            </a:r>
            <a:endParaRPr lang="en-US" sz="48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600" b="1" dirty="0" err="1" smtClean="0">
                <a:latin typeface="Arial" pitchFamily="34" charset="0"/>
                <a:cs typeface="Arial" pitchFamily="34" charset="0"/>
              </a:rPr>
              <a:t>Avg</a:t>
            </a:r>
            <a:r>
              <a:rPr lang="en-US" sz="5600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sz="5600" dirty="0" smtClean="0">
                <a:latin typeface="Arial" pitchFamily="34" charset="0"/>
                <a:cs typeface="Arial" pitchFamily="34" charset="0"/>
              </a:rPr>
              <a:t> ₹405.77, </a:t>
            </a:r>
            <a:r>
              <a:rPr lang="en-US" sz="5600" b="1" dirty="0" smtClean="0">
                <a:latin typeface="Arial" pitchFamily="34" charset="0"/>
                <a:cs typeface="Arial" pitchFamily="34" charset="0"/>
              </a:rPr>
              <a:t>Min:</a:t>
            </a:r>
            <a:r>
              <a:rPr lang="en-US" sz="5600" dirty="0" smtClean="0">
                <a:latin typeface="Arial" pitchFamily="34" charset="0"/>
                <a:cs typeface="Arial" pitchFamily="34" charset="0"/>
              </a:rPr>
              <a:t> ₹6.67 (Milk </a:t>
            </a:r>
            <a:r>
              <a:rPr lang="en-US" sz="5600" smtClean="0">
                <a:latin typeface="Arial" pitchFamily="34" charset="0"/>
                <a:cs typeface="Arial" pitchFamily="34" charset="0"/>
              </a:rPr>
              <a:t>/ </a:t>
            </a:r>
            <a:r>
              <a:rPr lang="en-US" sz="5600" smtClean="0">
                <a:latin typeface="Arial" pitchFamily="34" charset="0"/>
                <a:cs typeface="Arial" pitchFamily="34" charset="0"/>
              </a:rPr>
              <a:t>Buttermilk)</a:t>
            </a:r>
            <a:endParaRPr lang="en-US" sz="5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600" b="1" dirty="0" smtClean="0">
                <a:latin typeface="Arial" pitchFamily="34" charset="0"/>
                <a:cs typeface="Arial" pitchFamily="34" charset="0"/>
              </a:rPr>
              <a:t>Max:</a:t>
            </a:r>
            <a:r>
              <a:rPr lang="en-US" sz="5600" dirty="0" smtClean="0">
                <a:latin typeface="Arial" pitchFamily="34" charset="0"/>
                <a:cs typeface="Arial" pitchFamily="34" charset="0"/>
              </a:rPr>
              <a:t> ₹6,574.55 (Bulk Ghee SKUs)</a:t>
            </a:r>
          </a:p>
          <a:p>
            <a:pPr>
              <a:buNone/>
            </a:pP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en-US" sz="5600" b="1" dirty="0" smtClean="0">
                <a:latin typeface="Arial" pitchFamily="34" charset="0"/>
                <a:cs typeface="Arial" pitchFamily="34" charset="0"/>
              </a:rPr>
              <a:t>Product 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(Amount ₹)</a:t>
            </a:r>
            <a:endParaRPr lang="en-US" sz="48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600" b="1" dirty="0" err="1">
                <a:latin typeface="Arial" pitchFamily="34" charset="0"/>
                <a:cs typeface="Arial" pitchFamily="34" charset="0"/>
              </a:rPr>
              <a:t>Avg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 ₹3.08 </a:t>
            </a:r>
            <a:r>
              <a:rPr lang="en-US" sz="5600" dirty="0" err="1">
                <a:latin typeface="Arial" pitchFamily="34" charset="0"/>
                <a:cs typeface="Arial" pitchFamily="34" charset="0"/>
              </a:rPr>
              <a:t>Lakhs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Std Dev: 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₹4.61 </a:t>
            </a:r>
            <a:r>
              <a:rPr lang="en-US" sz="5600" dirty="0" err="1">
                <a:latin typeface="Arial" pitchFamily="34" charset="0"/>
                <a:cs typeface="Arial" pitchFamily="34" charset="0"/>
              </a:rPr>
              <a:t>Lakhs</a:t>
            </a:r>
            <a:endParaRPr lang="en-US" sz="5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600" b="1" dirty="0">
                <a:latin typeface="Arial" pitchFamily="34" charset="0"/>
                <a:cs typeface="Arial" pitchFamily="34" charset="0"/>
              </a:rPr>
              <a:t>Range: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5600" dirty="0" smtClean="0">
                <a:latin typeface="Arial" pitchFamily="34" charset="0"/>
                <a:ea typeface="Calibri" pitchFamily="34" charset="0"/>
                <a:cs typeface="Arial" pitchFamily="34" charset="0"/>
              </a:rPr>
              <a:t>₹0.38 </a:t>
            </a:r>
            <a:r>
              <a:rPr lang="en-US" sz="5600" dirty="0" err="1" smtClean="0">
                <a:latin typeface="Arial" pitchFamily="34" charset="0"/>
                <a:ea typeface="Calibri" pitchFamily="34" charset="0"/>
                <a:cs typeface="Arial" pitchFamily="34" charset="0"/>
              </a:rPr>
              <a:t>Lakhs</a:t>
            </a:r>
            <a:r>
              <a:rPr lang="en-US" sz="5600" dirty="0" smtClean="0">
                <a:latin typeface="Arial" pitchFamily="34" charset="0"/>
                <a:cs typeface="Arial" pitchFamily="34" charset="0"/>
              </a:rPr>
              <a:t> - ₹</a:t>
            </a:r>
            <a:r>
              <a:rPr lang="en-US" sz="5600" dirty="0">
                <a:latin typeface="Arial" pitchFamily="34" charset="0"/>
                <a:cs typeface="Arial" pitchFamily="34" charset="0"/>
              </a:rPr>
              <a:t>20.62 </a:t>
            </a:r>
            <a:r>
              <a:rPr lang="en-US" sz="5600" dirty="0" err="1" smtClean="0">
                <a:latin typeface="Arial" pitchFamily="34" charset="0"/>
                <a:cs typeface="Arial" pitchFamily="34" charset="0"/>
              </a:rPr>
              <a:t>Lakhs</a:t>
            </a:r>
            <a:endParaRPr lang="en-US" sz="40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 sz="2600"/>
            </a:pPr>
            <a:endParaRPr lang="en-US" sz="40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  <a:defRPr sz="2600"/>
            </a:pPr>
            <a:r>
              <a:rPr lang="en-US" sz="5600" b="1" dirty="0">
                <a:latin typeface="Arial" pitchFamily="34" charset="0"/>
                <a:cs typeface="Arial" pitchFamily="34" charset="0"/>
              </a:rPr>
              <a:t>Clear seasonal Trend</a:t>
            </a:r>
            <a:endParaRPr lang="en-US" sz="4800" b="1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  <a:defRPr sz="2600"/>
            </a:pPr>
            <a:r>
              <a:rPr lang="en-US" sz="5600" dirty="0">
                <a:latin typeface="Arial" pitchFamily="34" charset="0"/>
                <a:cs typeface="Arial" pitchFamily="34" charset="0"/>
              </a:rPr>
              <a:t>High revenue during </a:t>
            </a:r>
            <a:r>
              <a:rPr lang="en-US" sz="5600" b="1" dirty="0">
                <a:latin typeface="Arial" pitchFamily="34" charset="0"/>
                <a:cs typeface="Arial" pitchFamily="34" charset="0"/>
              </a:rPr>
              <a:t>festival &amp; winter months, low in summer/monsoon season</a:t>
            </a:r>
          </a:p>
          <a:p>
            <a:pPr algn="ctr">
              <a:buNone/>
              <a:defRPr sz="2600"/>
            </a:pPr>
            <a:endParaRPr b="1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2"/>
          </p:nvPr>
        </p:nvSpPr>
        <p:spPr>
          <a:xfrm>
            <a:off x="1804484" y="3772753"/>
            <a:ext cx="622300" cy="234950"/>
          </a:xfrm>
        </p:spPr>
        <p:txBody>
          <a:bodyPr>
            <a:noAutofit/>
          </a:bodyPr>
          <a:lstStyle/>
          <a:p>
            <a:pPr algn="l">
              <a:buNone/>
              <a:defRPr sz="3000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 - 1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" y="1136652"/>
            <a:ext cx="3892550" cy="262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5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Diagonal Corner Rectangle 11"/>
          <p:cNvSpPr/>
          <p:nvPr/>
        </p:nvSpPr>
        <p:spPr>
          <a:xfrm>
            <a:off x="4584700" y="3048002"/>
            <a:ext cx="4286250" cy="2000003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Diagonal Corner Rectangle 10"/>
          <p:cNvSpPr/>
          <p:nvPr/>
        </p:nvSpPr>
        <p:spPr>
          <a:xfrm>
            <a:off x="301626" y="3054599"/>
            <a:ext cx="4103384" cy="2000003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0" y="-18905"/>
            <a:ext cx="7467600" cy="47649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Algerian" pitchFamily="82" charset="0"/>
              </a:rPr>
              <a:t>TOTAL REVENUE IN EACH MONTH</a:t>
            </a:r>
            <a:endParaRPr sz="3600" dirty="0">
              <a:latin typeface="Algerian" pitchFamily="82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1878670" y="2785729"/>
            <a:ext cx="622300" cy="234950"/>
          </a:xfrm>
        </p:spPr>
        <p:txBody>
          <a:bodyPr>
            <a:noAutofit/>
          </a:bodyPr>
          <a:lstStyle/>
          <a:p>
            <a:pPr algn="l">
              <a:buNone/>
              <a:defRPr sz="3000"/>
            </a:pP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Fig - 2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2915426"/>
            <a:ext cx="4432300" cy="1891229"/>
          </a:xfrm>
        </p:spPr>
        <p:txBody>
          <a:bodyPr>
            <a:normAutofit fontScale="25000" lnSpcReduction="20000"/>
          </a:bodyPr>
          <a:lstStyle/>
          <a:p>
            <a:pPr>
              <a:buNone/>
              <a:defRPr sz="2600"/>
            </a:pPr>
            <a:endParaRPr lang="en-IN" dirty="0"/>
          </a:p>
          <a:p>
            <a:pPr algn="ctr">
              <a:buNone/>
            </a:pPr>
            <a:r>
              <a:rPr lang="en-US" sz="4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Top 5 Product </a:t>
            </a:r>
            <a:r>
              <a:rPr lang="en-US" sz="48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Category</a:t>
            </a:r>
            <a:endParaRPr lang="en-US" b="1" dirty="0"/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400" b="1" dirty="0"/>
              <a:t>	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Ghee Teen (15 Kg)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largest revenue contributor (28%)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, followed by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Tond Milk Pouch 500 ML (22%)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and Full Fat Milk Pouch 500 ML (21%).</a:t>
            </a:r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Milk-based SKUs together contribute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over 70% of total sales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, highlighting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high dependency on a few core products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These products form the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backbone of business profitability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and must be prioritized in production and distribution planning.</a:t>
            </a:r>
          </a:p>
          <a:p>
            <a:pPr>
              <a:buNone/>
              <a:defRPr sz="2600"/>
            </a:pPr>
            <a:endParaRPr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4294967295"/>
          </p:nvPr>
        </p:nvSpPr>
        <p:spPr>
          <a:xfrm>
            <a:off x="297367" y="3107010"/>
            <a:ext cx="4149725" cy="1746250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Monthly Revenue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Trend</a:t>
            </a:r>
            <a:endParaRPr lang="en-US" b="1" dirty="0" smtClean="0"/>
          </a:p>
          <a:p>
            <a:pPr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3200" b="1" dirty="0" smtClean="0"/>
              <a:t>       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Revenue exhibits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strong seasonality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, with a clear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peak in </a:t>
            </a:r>
            <a:r>
              <a:rPr lang="en-US" sz="4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January (₹105.25 </a:t>
            </a:r>
            <a:r>
              <a:rPr lang="en-US" sz="4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Lakhs</a:t>
            </a:r>
            <a:r>
              <a:rPr lang="en-US" sz="4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driven by winter demand and festive consumption.</a:t>
            </a:r>
          </a:p>
          <a:p>
            <a:pPr marL="183600">
              <a:lnSpc>
                <a:spcPts val="320"/>
              </a:lnSpc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     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Sales remain relatively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stable during early months </a:t>
            </a:r>
          </a:p>
          <a:p>
            <a:pPr marL="183600">
              <a:lnSpc>
                <a:spcPts val="320"/>
              </a:lnSpc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US" sz="4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(May–July)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and increase steadily toward the festive period. </a:t>
            </a:r>
          </a:p>
          <a:p>
            <a:pPr marL="183600">
              <a:lnSpc>
                <a:spcPts val="320"/>
              </a:lnSpc>
              <a:buNone/>
            </a:pPr>
            <a:endParaRPr lang="en-US" sz="4400" dirty="0" smtClean="0">
              <a:latin typeface="Arial" pitchFamily="34" charset="0"/>
              <a:cs typeface="Arial" pitchFamily="34" charset="0"/>
            </a:endParaRPr>
          </a:p>
          <a:p>
            <a:pPr marL="183600">
              <a:lnSpc>
                <a:spcPts val="320"/>
              </a:lnSpc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	  A sharp decline is observed in March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followed by partial </a:t>
            </a:r>
          </a:p>
          <a:p>
            <a:pPr marL="183600">
              <a:lnSpc>
                <a:spcPts val="320"/>
              </a:lnSpc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       recovery in April, indicating post-season demand drop.</a:t>
            </a:r>
          </a:p>
          <a:p>
            <a:pPr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This confirms that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revenue is season-driven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, requiring seasonal inventory and cash-flow planning.</a:t>
            </a:r>
          </a:p>
          <a:p>
            <a:pPr>
              <a:buNone/>
              <a:defRPr sz="2600"/>
            </a:pPr>
            <a:endParaRPr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626" y="472679"/>
            <a:ext cx="4103384" cy="2314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9552" y="459825"/>
            <a:ext cx="3883024" cy="2321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324600" y="2813050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Fig - 3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Diagonal Corner Rectangle 12"/>
          <p:cNvSpPr/>
          <p:nvPr/>
        </p:nvSpPr>
        <p:spPr>
          <a:xfrm>
            <a:off x="292100" y="3022600"/>
            <a:ext cx="4235450" cy="207645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ound Diagonal Corner Rectangle 13"/>
          <p:cNvSpPr/>
          <p:nvPr/>
        </p:nvSpPr>
        <p:spPr>
          <a:xfrm>
            <a:off x="4762500" y="3009900"/>
            <a:ext cx="4235450" cy="207645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10830"/>
            <a:ext cx="7467600" cy="446149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latin typeface="Algerian" pitchFamily="82" charset="0"/>
              </a:rPr>
              <a:t>PRODUCT PERFORMANCE AND REVENUE INSIGHT</a:t>
            </a:r>
            <a:endParaRPr sz="2400" dirty="0">
              <a:latin typeface="Algerian" pitchFamily="82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>
          <a:xfrm>
            <a:off x="1930400" y="2787650"/>
            <a:ext cx="622300" cy="234950"/>
          </a:xfrm>
        </p:spPr>
        <p:txBody>
          <a:bodyPr>
            <a:noAutofit/>
          </a:bodyPr>
          <a:lstStyle/>
          <a:p>
            <a:pPr algn="l">
              <a:buNone/>
              <a:defRPr sz="3000"/>
            </a:pPr>
            <a:r>
              <a:rPr lang="en-IN" sz="1100" dirty="0"/>
              <a:t>Fig - 4</a:t>
            </a:r>
            <a:endParaRPr sz="11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3012211"/>
            <a:ext cx="3803650" cy="1962150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endParaRPr lang="en-US" b="1" dirty="0"/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 	Top 5–7 products contribute ~70–75% of total revenue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, confirming the Pareto (80/20) principle.</a:t>
            </a:r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 	Milk and ghee SKUs (Ghee Teen, Full Fat Milk, Fresh Milk)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are the primary revenue drivers.</a:t>
            </a:r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800" dirty="0" smtClean="0"/>
              <a:t>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Long-tail products generate limited revenue individually and should be managed carefully to reduce overstocking.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Focusing inventory and forecasting on these key products can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stabilize revenue and reduce spoilage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294967295"/>
          </p:nvPr>
        </p:nvSpPr>
        <p:spPr>
          <a:xfrm>
            <a:off x="505522" y="3024334"/>
            <a:ext cx="3803650" cy="1981200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Outward Qty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endParaRPr lang="en-US" b="1" dirty="0"/>
          </a:p>
          <a:p>
            <a:pPr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 The top 5–6 products contribute approximately </a:t>
            </a:r>
            <a:r>
              <a:rPr lang="en-US" sz="4400" b="1" dirty="0" smtClean="0">
                <a:latin typeface="Arial" pitchFamily="34" charset="0"/>
                <a:cs typeface="Arial" pitchFamily="34" charset="0"/>
              </a:rPr>
              <a:t>75–80%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 of total outward quantity.</a:t>
            </a:r>
          </a:p>
          <a:p>
            <a:pPr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Products like </a:t>
            </a:r>
            <a:r>
              <a:rPr lang="en-US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Neno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 Milk Pouch 200ML and Full Fat Milk 500ML require priority in production and inventory planning.</a:t>
            </a:r>
          </a:p>
          <a:p>
            <a:pPr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800" dirty="0" smtClean="0"/>
              <a:t>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Several SKUs form a </a:t>
            </a:r>
            <a:r>
              <a:rPr lang="en-US" sz="4400" b="1" dirty="0" smtClean="0">
                <a:latin typeface="Arial" pitchFamily="34" charset="0"/>
                <a:cs typeface="Arial" pitchFamily="34" charset="0"/>
              </a:rPr>
              <a:t>long tail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, contributing minimal quantity individually and can be stocked conservatively.</a:t>
            </a:r>
          </a:p>
          <a:p>
            <a:pPr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Efficient production, distribution, and forecasting should prioritize these high-volume products to avoid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stockouts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29" name="Picture 5" descr="C:\Users\LENOVO\Pictures\Screenshots\Screenshot 2025-12-23 23140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9427" y="549237"/>
            <a:ext cx="4335827" cy="2243680"/>
          </a:xfrm>
          <a:prstGeom prst="rect">
            <a:avLst/>
          </a:prstGeom>
          <a:noFill/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6515100" y="2800597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Fig - 5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61432" y="48097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7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954" y="549236"/>
            <a:ext cx="4235450" cy="2224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203200" y="3054351"/>
            <a:ext cx="4337050" cy="197485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 Diagonal Corner Rectangle 11"/>
          <p:cNvSpPr/>
          <p:nvPr/>
        </p:nvSpPr>
        <p:spPr>
          <a:xfrm>
            <a:off x="4692650" y="3048000"/>
            <a:ext cx="4337050" cy="197485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-35013"/>
            <a:ext cx="7467600" cy="58777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Algerian" pitchFamily="82" charset="0"/>
              </a:rPr>
              <a:t>DEMAND FORECASTING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3084949"/>
            <a:ext cx="4337050" cy="2044697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LINEAR REGRESSION</a:t>
            </a:r>
            <a:endParaRPr lang="en-US" sz="2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Linear Regression captures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upward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revenue trend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but it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smooths out month-to-month fluctuations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underestimates peak demand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during high -season months (January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overestimates revenue during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low-demand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periods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(March)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Therefore, Linear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Regressopm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suitable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for long-term trend analysis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but not </a:t>
            </a:r>
            <a:r>
              <a:rPr lang="en-US" sz="2500" dirty="0" smtClean="0">
                <a:latin typeface="Arial" pitchFamily="34" charset="0"/>
                <a:cs typeface="Arial" pitchFamily="34" charset="0"/>
              </a:rPr>
              <a:t>ideal for seasonal or short-term forecasting.</a:t>
            </a:r>
            <a:endParaRPr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1" name="Picture 3" descr="C:\Users\LENOVO\Desktop\BDM Final\final\BDM_Final_Output\linear_regression_forecas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750" y="584200"/>
            <a:ext cx="4419600" cy="2209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2" name="Picture 4" descr="C:\Users\LENOVO\Desktop\BDM Final\final\BDM_Final_Output\arima_forecas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4530" y="578248"/>
            <a:ext cx="4256270" cy="22221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689182" y="3074840"/>
            <a:ext cx="4330700" cy="1918781"/>
          </a:xfrm>
          <a:prstGeom prst="rect">
            <a:avLst/>
          </a:prstGeom>
        </p:spPr>
        <p:txBody>
          <a:bodyPr vert="horz">
            <a:normAutofit fontScale="25000" lnSpcReduction="20000"/>
          </a:bodyPr>
          <a:lstStyle/>
          <a:p>
            <a:pPr marL="420624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IN" sz="5600" b="1" dirty="0">
                <a:latin typeface="Arial" panose="020B0604020202020204" pitchFamily="34" charset="0"/>
                <a:cs typeface="Arial" panose="020B0604020202020204" pitchFamily="34" charset="0"/>
              </a:rPr>
              <a:t>ARIMA FORECASTING</a:t>
            </a:r>
          </a:p>
          <a:p>
            <a:pPr marL="420624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ARIMA effectively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captures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seasonality and short-term variations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present in historical revenue data.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The 6 months forecast indicates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stable expected revenue levels, with the confidence interval reflecting demand </a:t>
            </a:r>
            <a:r>
              <a:rPr lang="en-US" sz="4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uncertainity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• 	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This makes ARIMA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more suitable for operational planning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, inventory control, and short-term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decision-making compared to Linear Regression.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936750" y="2806702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- 6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584950" y="2809876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- 7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55082" y="48097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8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4819650" y="764780"/>
            <a:ext cx="4203700" cy="4105671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" name="Round Diagonal Corner Rectangle 5"/>
          <p:cNvSpPr/>
          <p:nvPr/>
        </p:nvSpPr>
        <p:spPr>
          <a:xfrm>
            <a:off x="152403" y="777479"/>
            <a:ext cx="4470399" cy="4086621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  <a:highlight>
                <a:srgbClr val="000000"/>
              </a:highligh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0" y="11605"/>
            <a:ext cx="7467600" cy="584200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Algerian" pitchFamily="82" charset="0"/>
              </a:rPr>
              <a:t>STRATEGIC RECOMMENDATION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1073153"/>
            <a:ext cx="4476750" cy="4000500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• 	Improve Seasonal Inventory Planning </a:t>
            </a:r>
          </a:p>
          <a:p>
            <a:pP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Stock Ghee,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Paneer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and Full-Fat Milk aggressively before Oct–Jan (winter &amp; festive season) and scale down summer inventory to reduce spoilage and holding costs.</a:t>
            </a:r>
          </a:p>
          <a:p>
            <a:pPr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• 	Strengthen Summer Beverage Portfolio</a:t>
            </a:r>
          </a:p>
          <a:p>
            <a:pPr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Increase production and visibility of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Mattha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Lassi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, and Curd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during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Apr–Jun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to stabilize revenue during low-demand months and reduce seasonal volatility.</a:t>
            </a:r>
          </a:p>
          <a:p>
            <a:pPr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• 	Focus on High-Impact SKUs (Pareto Strategy)</a:t>
            </a:r>
          </a:p>
          <a:p>
            <a:pPr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Prioritize procurement, quality control, and distribution for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top revenue-generating SKUs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(Ghee Teen, Fresh Milk, Milk Pouches) which contribute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~75–80% of total revenue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defRPr sz="2400"/>
            </a:pPr>
            <a:endParaRPr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946650" y="1114031"/>
            <a:ext cx="4102100" cy="3832621"/>
          </a:xfrm>
          <a:prstGeom prst="rect">
            <a:avLst/>
          </a:prstGeom>
        </p:spPr>
        <p:txBody>
          <a:bodyPr vert="horz">
            <a:normAutofit fontScale="47500" lnSpcReduction="20000"/>
          </a:bodyPr>
          <a:lstStyle/>
          <a:p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• 	Optimize Low-Performing </a:t>
            </a:r>
            <a:r>
              <a:rPr lang="en-US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</a:p>
          <a:p>
            <a:endParaRPr lang="en-US" sz="2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700" dirty="0" smtClean="0">
                <a:latin typeface="Arial" pitchFamily="34" charset="0"/>
                <a:cs typeface="Arial" pitchFamily="34" charset="0"/>
              </a:rPr>
              <a:t>Rationalize low-contribution SKUs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through 	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combo offers, repackaging, promotions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, 	or </a:t>
            </a:r>
            <a:r>
              <a:rPr lang="en-US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gradual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discontinuation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to optimize 	shelf 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space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and costs.</a:t>
            </a:r>
          </a:p>
          <a:p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• 	Strengthen Distributor &amp; Retail </a:t>
            </a:r>
            <a:r>
              <a:rPr lang="en-US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  <a:p>
            <a:endParaRPr lang="en-US" sz="2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	Offer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seasonal incentives, volume 		discounts, and loyalty schemes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to retailers 	to 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ensure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consistent off-take and support 	regional 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expansion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• 	Data-Driven Forecasting &amp; </a:t>
            </a:r>
            <a:r>
              <a:rPr lang="en-US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</a:p>
          <a:p>
            <a:pPr>
              <a:buNone/>
            </a:pPr>
            <a:endParaRPr lang="en-US" sz="2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	Use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ARIMA and trend-based forecasting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plan monthly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working capital, </a:t>
            </a:r>
          </a:p>
          <a:p>
            <a:pP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        	</a:t>
            </a:r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and procurement instead of relying on intuition.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9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152403" y="777479"/>
            <a:ext cx="4470399" cy="4086621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Diagonal Corner Rectangle 5"/>
          <p:cNvSpPr/>
          <p:nvPr/>
        </p:nvSpPr>
        <p:spPr>
          <a:xfrm>
            <a:off x="4819650" y="764780"/>
            <a:ext cx="4203700" cy="4105671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-8683"/>
            <a:ext cx="74676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Algerian" pitchFamily="82" charset="0"/>
              </a:rPr>
              <a:t>CONCLUSION AND IMPACT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57613"/>
            <a:ext cx="4178300" cy="3826740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6400" b="1" dirty="0">
                <a:latin typeface="Arial" pitchFamily="34" charset="0"/>
                <a:cs typeface="Arial" pitchFamily="34" charset="0"/>
              </a:rPr>
              <a:t>Conclusion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5200" dirty="0">
                <a:latin typeface="Arial" pitchFamily="34" charset="0"/>
                <a:cs typeface="Arial" pitchFamily="34" charset="0"/>
              </a:rPr>
              <a:t>•</a:t>
            </a: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5200" dirty="0">
                <a:latin typeface="Arial" pitchFamily="34" charset="0"/>
                <a:cs typeface="Arial" pitchFamily="34" charset="0"/>
              </a:rPr>
              <a:t>The 12-month sales and Pareto analysis revealed </a:t>
            </a:r>
            <a:r>
              <a:rPr lang="en-US" sz="5200" b="1" dirty="0">
                <a:latin typeface="Arial" pitchFamily="34" charset="0"/>
                <a:cs typeface="Arial" pitchFamily="34" charset="0"/>
              </a:rPr>
              <a:t>strong seasonality and high dependence on a few core products</a:t>
            </a:r>
            <a:r>
              <a:rPr lang="en-US" sz="5200" dirty="0">
                <a:latin typeface="Arial" pitchFamily="34" charset="0"/>
                <a:cs typeface="Arial" pitchFamily="34" charset="0"/>
              </a:rPr>
              <a:t>, especially during winter months</a:t>
            </a:r>
            <a:r>
              <a:rPr lang="en-US" sz="5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5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200" dirty="0">
                <a:latin typeface="Arial" pitchFamily="34" charset="0"/>
                <a:cs typeface="Arial" pitchFamily="34" charset="0"/>
              </a:rPr>
              <a:t>•	Product-level analysis helped identify </a:t>
            </a:r>
            <a:r>
              <a:rPr lang="en-US" sz="5200" b="1" dirty="0">
                <a:latin typeface="Arial" pitchFamily="34" charset="0"/>
                <a:cs typeface="Arial" pitchFamily="34" charset="0"/>
              </a:rPr>
              <a:t>high-performing SKUs and consistently low-performing items</a:t>
            </a:r>
            <a:r>
              <a:rPr lang="en-US" sz="5200" dirty="0">
                <a:latin typeface="Arial" pitchFamily="34" charset="0"/>
                <a:cs typeface="Arial" pitchFamily="34" charset="0"/>
              </a:rPr>
              <a:t>, enabling focused decision-making</a:t>
            </a:r>
            <a:r>
              <a:rPr lang="en-US" sz="5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5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200" dirty="0">
                <a:latin typeface="Arial" pitchFamily="34" charset="0"/>
                <a:cs typeface="Arial" pitchFamily="34" charset="0"/>
              </a:rPr>
              <a:t>•	Forecasting models (Linear Regression &amp; ARIMA) indicated </a:t>
            </a:r>
            <a:r>
              <a:rPr lang="en-US" sz="5200" b="1" dirty="0">
                <a:latin typeface="Arial" pitchFamily="34" charset="0"/>
                <a:cs typeface="Arial" pitchFamily="34" charset="0"/>
              </a:rPr>
              <a:t>stable long-term growth</a:t>
            </a:r>
            <a:r>
              <a:rPr lang="en-US" sz="5200" dirty="0">
                <a:latin typeface="Arial" pitchFamily="34" charset="0"/>
                <a:cs typeface="Arial" pitchFamily="34" charset="0"/>
              </a:rPr>
              <a:t>, despite short-term seasonal fluctuations</a:t>
            </a:r>
            <a:r>
              <a:rPr lang="en-US" sz="5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5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200" dirty="0">
                <a:latin typeface="Arial" pitchFamily="34" charset="0"/>
                <a:cs typeface="Arial" pitchFamily="34" charset="0"/>
              </a:rPr>
              <a:t>•	Overall, the analysis provided a </a:t>
            </a:r>
            <a:r>
              <a:rPr lang="en-US" sz="5200" b="1" dirty="0">
                <a:latin typeface="Arial" pitchFamily="34" charset="0"/>
                <a:cs typeface="Arial" pitchFamily="34" charset="0"/>
              </a:rPr>
              <a:t>data-driven foundation for inventory planning, production alignment, and strategic expansion</a:t>
            </a:r>
            <a:r>
              <a:rPr lang="en-US" sz="5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5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83150" y="958852"/>
            <a:ext cx="4178300" cy="33944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algn="ctr"/>
            <a:r>
              <a:rPr lang="en-US" sz="1700" b="1" dirty="0" smtClean="0">
                <a:latin typeface="Arial" pitchFamily="34" charset="0"/>
                <a:cs typeface="Arial" pitchFamily="34" charset="0"/>
              </a:rPr>
              <a:t>Impact</a:t>
            </a:r>
            <a:endParaRPr lang="en-US" sz="1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800" b="1" dirty="0"/>
          </a:p>
          <a:p>
            <a:r>
              <a:rPr lang="en-US" sz="1300" dirty="0">
                <a:latin typeface="Arial" pitchFamily="34" charset="0"/>
                <a:cs typeface="Arial" pitchFamily="34" charset="0"/>
              </a:rPr>
              <a:t>•	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Improved inventory efficiency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by aligning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	stock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	levels with seasonal demand, reducing 	wastage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stock-outs.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•	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Higher revenue potential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through prioritization 	of top-contributing SKUs and better preparation 	for peak winter demand.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•	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Reduced business risk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by identifying 	opportunities to diversify revenue beyond a few 	core products.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•	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Stronger decision-making capability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using 	predictive forecasting for budgeting, 	procurement, and working capital planning.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•	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Clear roadmap for scalable growth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	supporting the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firm’s long-term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objective of 	achieving their goal.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2400"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4900" y="4784353"/>
            <a:ext cx="43497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10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8" y="1600200"/>
            <a:ext cx="5560327" cy="11984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7200" dirty="0" smtClean="0"/>
              <a:t>THANK YOU</a:t>
            </a:r>
            <a:endParaRPr lang="en-US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1772</TotalTime>
  <Words>516</Words>
  <Application>Microsoft Office PowerPoint</Application>
  <PresentationFormat>On-screen Show (16:9)</PresentationFormat>
  <Paragraphs>162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Wisp</vt:lpstr>
      <vt:lpstr>Revenue Optimization and Demand Forecasting Analysis of a Dairy Firm</vt:lpstr>
      <vt:lpstr>BRIEF OVERVIEW OF SHREE MAA DAIRY</vt:lpstr>
      <vt:lpstr>INTRODUCTION</vt:lpstr>
      <vt:lpstr>SOURCE OF DATA AND DATA CLEANING METHODS</vt:lpstr>
      <vt:lpstr>DESCRIPTIVE STATISTICAL ANALYSIS</vt:lpstr>
      <vt:lpstr>TOTAL REVENUE IN EACH MONTH</vt:lpstr>
      <vt:lpstr>PRODUCT PERFORMANCE AND REVENUE INSIGHT</vt:lpstr>
      <vt:lpstr>DEMAND FORECASTING</vt:lpstr>
      <vt:lpstr>STRATEGIC RECOMMENDATION</vt:lpstr>
      <vt:lpstr>CONCLUSION AND IMPACT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Data Management Capstone Project</dc:title>
  <dc:subject/>
  <dc:creator/>
  <cp:keywords/>
  <dc:description>generated using python-pptx</dc:description>
  <cp:lastModifiedBy>LENOVO</cp:lastModifiedBy>
  <cp:revision>139</cp:revision>
  <dcterms:created xsi:type="dcterms:W3CDTF">2013-01-27T09:14:16Z</dcterms:created>
  <dcterms:modified xsi:type="dcterms:W3CDTF">2025-12-28T07:08:14Z</dcterms:modified>
  <cp:category/>
</cp:coreProperties>
</file>